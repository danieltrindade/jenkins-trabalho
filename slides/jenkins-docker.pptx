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21440" cy="6217920"/>
          </a:xfrm>
          <a:prstGeom prst="roundRect">
            <a:avLst>
              <a:gd name="adj" fmla="val 1765"/>
            </a:avLst>
          </a:prstGeom>
          <a:ln w="1270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91440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" y="1095451"/>
            <a:ext cx="460858" cy="4608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00200" y="91440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251" y="1095451"/>
            <a:ext cx="460858" cy="46085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CI/CD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94360" y="22402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</a:t>
            </a:r>
            <a:endParaRPr lang="en-US" sz="5200" dirty="0"/>
          </a:p>
        </p:txBody>
      </p:sp>
      <p:sp>
        <p:nvSpPr>
          <p:cNvPr id="9" name="Text 5"/>
          <p:cNvSpPr/>
          <p:nvPr/>
        </p:nvSpPr>
        <p:spPr>
          <a:xfrm>
            <a:off x="658368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e testes em containers Docker isolados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58368" y="37947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de um pipeline Jenkins para executar a compilação dos fontes em um container e a suíte de testes em outro container, totalmente isolados.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58368" y="5074920"/>
            <a:ext cx="50292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8368" y="52120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Daniel Trindade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Trabalho 2 — Jenkins com Docker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Gerência de Configuração · UFAM · 2026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15" name="Text 11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esta apresentação cobre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64008" cy="132588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828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396" y="1953524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92040" y="17190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508760" y="181051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projeto e sua arquitetura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08760" y="22677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conversão de temperatura em Node.js e seus dois métodos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55448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63640" y="1554480"/>
            <a:ext cx="64008" cy="132588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9672" y="1828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396" y="1953524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607040" y="17190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223760" y="181051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 de teste e cobertura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223760" y="22677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Suíte de testes e as métricas de cobertura de código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10896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3108960"/>
            <a:ext cx="64008" cy="132588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0" name="Shape 16"/>
          <p:cNvSpPr/>
          <p:nvPr/>
        </p:nvSpPr>
        <p:spPr>
          <a:xfrm>
            <a:off x="804672" y="33832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35080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892040" y="32735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1508760" y="336499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mudança: do Trabalho 1 ao 2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1508760" y="382219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tudo no agente para dois containers Docker isolados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263640" y="310896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63640" y="3108960"/>
            <a:ext cx="64008" cy="132588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7" name="Shape 22"/>
          <p:cNvSpPr/>
          <p:nvPr/>
        </p:nvSpPr>
        <p:spPr>
          <a:xfrm>
            <a:off x="6519672" y="33832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396" y="3508004"/>
            <a:ext cx="317480" cy="317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607040" y="32735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30" name="Text 24"/>
          <p:cNvSpPr/>
          <p:nvPr/>
        </p:nvSpPr>
        <p:spPr>
          <a:xfrm>
            <a:off x="7223760" y="336499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Montar o job no Jenkins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7223760" y="382219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o Pipeline e configurar a ligação com o GitHub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48640" y="4663440"/>
            <a:ext cx="64008" cy="132588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4" name="Shape 28"/>
          <p:cNvSpPr/>
          <p:nvPr/>
        </p:nvSpPr>
        <p:spPr>
          <a:xfrm>
            <a:off x="804672" y="49377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396" y="5062484"/>
            <a:ext cx="317480" cy="31748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4892040" y="482803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400" dirty="0"/>
          </a:p>
        </p:txBody>
      </p:sp>
      <p:sp>
        <p:nvSpPr>
          <p:cNvPr id="37" name="Text 30"/>
          <p:cNvSpPr/>
          <p:nvPr/>
        </p:nvSpPr>
        <p:spPr>
          <a:xfrm>
            <a:off x="1508760" y="491947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 dos 4 cenários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1508760" y="5376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Sucesso, falha de build, instável e o nightly agendado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626364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263640" y="4663440"/>
            <a:ext cx="64008" cy="132588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41" name="Shape 34"/>
          <p:cNvSpPr/>
          <p:nvPr/>
        </p:nvSpPr>
        <p:spPr>
          <a:xfrm>
            <a:off x="6519672" y="49377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/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4396" y="5062484"/>
            <a:ext cx="317480" cy="3174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10607040" y="482803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400" dirty="0"/>
          </a:p>
        </p:txBody>
      </p:sp>
      <p:sp>
        <p:nvSpPr>
          <p:cNvPr id="44" name="Text 36"/>
          <p:cNvSpPr/>
          <p:nvPr/>
        </p:nvSpPr>
        <p:spPr>
          <a:xfrm>
            <a:off x="7223760" y="491947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Métricas e conclusão</a:t>
            </a:r>
            <a:endParaRPr lang="en-US" sz="1450" dirty="0"/>
          </a:p>
        </p:txBody>
      </p:sp>
      <p:sp>
        <p:nvSpPr>
          <p:cNvPr id="45" name="Text 37"/>
          <p:cNvSpPr/>
          <p:nvPr/>
        </p:nvSpPr>
        <p:spPr>
          <a:xfrm>
            <a:off x="7223760" y="5376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Cobertura, benefícios dos containers e links dos vídeos</a:t>
            </a:r>
            <a:endParaRPr lang="en-US" sz="1200" dirty="0"/>
          </a:p>
        </p:txBody>
      </p:sp>
      <p:sp>
        <p:nvSpPr>
          <p:cNvPr id="46" name="Shape 38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47" name="Text 39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de Conversão de Temperatura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API HTTP minimalista em Node.js, propositalmente simples para manter o foco no pipeline — não na complexidade do código.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5895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61872" y="24323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22, sem dependências externas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61872" y="2743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apenas módulos nativos; o Scalar (docs) carrega via CDN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33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354970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3392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Dois métodos de conversão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261872" y="3703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fahrenheitToCelsius e celsiusToFahrenheit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3891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33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50982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435254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Servidor HTTP com endpoints REST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261872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de conversão, /openapi.json e /docs interativo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766560" y="1554480"/>
            <a:ext cx="4846320" cy="4480560"/>
          </a:xfrm>
          <a:prstGeom prst="roundRect">
            <a:avLst>
              <a:gd name="adj" fmla="val 18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04088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040880" y="21488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040880" y="21488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7772400" y="2148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/fahrenheit-to-celsius?value=212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7772400" y="2441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100 °C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040880" y="2990088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040880" y="299008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7772400" y="29900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/celsius-to-fahrenheit?value=100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7772400" y="3282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212 °F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7040880" y="3831336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040880" y="383133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7772400" y="383133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/openapi.json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7772400" y="41239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OpenAPI 3.1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7040880" y="4672584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7040880" y="467258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7772400" y="467258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/docs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7772400" y="4965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interativa (Scalar)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7040880" y="5532120"/>
            <a:ext cx="448056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0408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Resposta em JSON: { input:{scale,value}, output:{scale,value} }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8" name="Text 33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DO CÓDIGO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os fontes estão organizados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64008" cy="91440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379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server.js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o servidor HTTP na porta 3000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3200400" y="2606040"/>
            <a:ext cx="274320" cy="274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2834640"/>
            <a:ext cx="56692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834640"/>
            <a:ext cx="64008" cy="914400"/>
          </a:xfrm>
          <a:prstGeom prst="rect">
            <a:avLst/>
          </a:prstGeom>
          <a:solidFill>
            <a:srgbClr val="39C5CF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9809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3375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Roteia as requisições e monta as respostas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3200400" y="374904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3977640"/>
            <a:ext cx="56692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3977640"/>
            <a:ext cx="64008" cy="9144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2"/>
          <p:cNvSpPr/>
          <p:nvPr/>
        </p:nvSpPr>
        <p:spPr>
          <a:xfrm>
            <a:off x="822960" y="41239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conversion-service.js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22960" y="44805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negócio: as duas conversões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92240" y="1691640"/>
            <a:ext cx="5120640" cy="4343400"/>
          </a:xfrm>
          <a:prstGeom prst="roundRect">
            <a:avLst>
              <a:gd name="adj" fmla="val 189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6656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INFRAESTRUTURA DE QUALIDADE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766560" y="228600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9214" y="2398654"/>
            <a:ext cx="286756" cy="286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06640" y="22494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 — scripts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7406640" y="2542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check, test e test:coverage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320040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214" y="3313054"/>
            <a:ext cx="286756" cy="2867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406640" y="3163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test/app.test.js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406640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Suíte com 9 casos de teste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766560" y="411480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9214" y="4227454"/>
            <a:ext cx="286756" cy="2867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406640" y="40782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scripts/run-coverage.js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740664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junit.xml + lcov.info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6766560" y="502920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9214" y="5141854"/>
            <a:ext cx="286756" cy="2867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406640" y="49926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Jenkinsfile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7406640" y="5285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declarativo (build + teste)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7" name="Text 29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 DE TESTE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dois métodos e como são validados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669280" cy="2148840"/>
          </a:xfrm>
          <a:prstGeom prst="roundRect">
            <a:avLst>
              <a:gd name="adj" fmla="val 2553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46504"/>
            <a:ext cx="91440" cy="9144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746504"/>
            <a:ext cx="91440" cy="9144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" y="1746504"/>
            <a:ext cx="91440" cy="914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84248"/>
            <a:ext cx="52669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fahrenheitToCelsius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(value) {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round((value -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* (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celsiusToFahrenheit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(value) {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round(value *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CASOS DE TESTE — DOIS NÚCLEO + 7 DE BORDA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5212080" cy="713232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212848"/>
            <a:ext cx="310896" cy="31089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95160" y="2103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°F  →  0 °C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995160" y="23957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fahrenheitToCelsius(32) === 0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00800" y="2852928"/>
            <a:ext cx="5212080" cy="713232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54096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995160" y="29443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°C  →  32 °F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995160" y="32369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celsiusToFahrenheit(0) === 32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400800" y="3694176"/>
            <a:ext cx="5212080" cy="713232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895344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95160" y="37856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212 °F → 100 °C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995160" y="40782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/fahrenheit-to-celsius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400800" y="4535424"/>
            <a:ext cx="5212080" cy="713232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736592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995160" y="46268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inválido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6995160" y="49194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responde HTTP 400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977640"/>
            <a:ext cx="5669280" cy="2057400"/>
          </a:xfrm>
          <a:prstGeom prst="roundRect">
            <a:avLst>
              <a:gd name="adj" fmla="val 4000"/>
            </a:avLst>
          </a:prstGeom>
          <a:solidFill>
            <a:srgbClr val="1C23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77240" y="42062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D1117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326941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463040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Cobertura de código ativada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777240" y="48006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test:coverage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executa os testes com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--experimental-test-coverage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gera os relatórios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reports/junit.xml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(resultado dos testes)  e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reports/lcov.info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(cobertura linha a linha).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2" name="Text 25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GRANDE MUDANÇA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Trabalho 1 para o Trabalho 2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18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8B9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TRABALHO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Tudo no agente Jenkins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898648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284378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Jenkins roda npm direto na máquina host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64845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35935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 teste compartilham o mesmo ambiente</a:t>
            </a:r>
            <a:endParaRPr lang="en-US" sz="13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39826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61872" y="43434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Node e cache do host influenciam</a:t>
            </a:r>
            <a:endParaRPr lang="en-US" sz="13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148072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61872" y="5093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isolamento entre as etapas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1856"/>
            </a:avLst>
          </a:prstGeom>
          <a:solidFill>
            <a:srgbClr val="161B22"/>
          </a:solidFill>
          <a:ln w="12700">
            <a:solidFill>
              <a:srgbClr val="2496ED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583680" y="18288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2496ED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6583680" y="18288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TRABALHO 2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6583680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 Docker isolados</a:t>
            </a:r>
            <a:endParaRPr lang="en-US" sz="1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898648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22592" y="284378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roda em um container node:22-alpine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3648456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022592" y="35935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rodam em outro container, separado</a:t>
            </a:r>
            <a:endParaRPr lang="en-US" sz="13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398264"/>
            <a:ext cx="256032" cy="2560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022592" y="43434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reprodutível e descartável</a:t>
            </a:r>
            <a:endParaRPr lang="en-US" sz="13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5148072"/>
            <a:ext cx="256032" cy="2560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022592" y="5093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é um docker run isolado (--rm)</a:t>
            </a:r>
            <a:endParaRPr lang="en-US" sz="1300" dirty="0"/>
          </a:p>
        </p:txBody>
      </p:sp>
      <p:sp>
        <p:nvSpPr>
          <p:cNvPr id="28" name="Shape 18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9" name="Text 19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DO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o Jenkins orquestra os dois containers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011680" cy="1188720"/>
          </a:xfrm>
          <a:prstGeom prst="roundRect">
            <a:avLst>
              <a:gd name="adj" fmla="val 69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57860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2689250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25603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98448" y="29260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/ webhook / cron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2825496"/>
            <a:ext cx="292608" cy="2926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063240" y="2377440"/>
            <a:ext cx="2011680" cy="1188720"/>
          </a:xfrm>
          <a:prstGeom prst="roundRect">
            <a:avLst>
              <a:gd name="adj" fmla="val 69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246120" y="257860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33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6762" y="2689250"/>
            <a:ext cx="281635" cy="28163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13048" y="25603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813048" y="29260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Jenkinsfile e orquestra</a:t>
            </a:r>
            <a:endParaRPr lang="en-US" sz="10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825496"/>
            <a:ext cx="292608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577840" y="1783080"/>
            <a:ext cx="6035040" cy="27432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15240">
            <a:solidFill>
              <a:srgbClr val="2496ED"/>
            </a:solidFill>
            <a:prstDash val="dash"/>
          </a:ln>
        </p:spPr>
      </p:sp>
      <p:sp>
        <p:nvSpPr>
          <p:cNvPr id="17" name="Text 11"/>
          <p:cNvSpPr/>
          <p:nvPr/>
        </p:nvSpPr>
        <p:spPr>
          <a:xfrm>
            <a:off x="5760720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ENGINE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10241280" y="18470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806440" y="2377440"/>
            <a:ext cx="2606040" cy="1188720"/>
          </a:xfrm>
          <a:prstGeom prst="roundRect">
            <a:avLst>
              <a:gd name="adj" fmla="val 6923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989320" y="257860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33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962" y="2689250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56248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BUILD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6556248" y="2926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check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2825496"/>
            <a:ext cx="274320" cy="27432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2377440"/>
            <a:ext cx="2606040" cy="1188720"/>
          </a:xfrm>
          <a:prstGeom prst="roundRect">
            <a:avLst>
              <a:gd name="adj" fmla="val 6923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961120" y="257860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330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1762" y="2689250"/>
            <a:ext cx="281635" cy="281635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528048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TESTE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528048" y="2926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test:coverage</a:t>
            </a:r>
            <a:endParaRPr lang="en-US" sz="1050" dirty="0"/>
          </a:p>
        </p:txBody>
      </p:sp>
      <p:sp>
        <p:nvSpPr>
          <p:cNvPr id="30" name="Text 21"/>
          <p:cNvSpPr/>
          <p:nvPr/>
        </p:nvSpPr>
        <p:spPr>
          <a:xfrm>
            <a:off x="5806440" y="37947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docker run separados; os dois montam o mesmo workspace (-v) e são descartados (--rm).</a:t>
            </a:r>
            <a:endParaRPr lang="en-US" sz="1100" dirty="0"/>
          </a:p>
        </p:txBody>
      </p:sp>
      <p:sp>
        <p:nvSpPr>
          <p:cNvPr id="31" name="Shape 22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C23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777240" y="5029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D1117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964" y="5153924"/>
            <a:ext cx="317480" cy="31748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508760" y="502920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o container de teste gera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reports/junit.xml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reports/lcov.info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o Jenkins publica e decide: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UNSTABLE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300" dirty="0"/>
          </a:p>
        </p:txBody>
      </p:sp>
      <p:sp>
        <p:nvSpPr>
          <p:cNvPr id="35" name="Shape 25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6" name="Text 26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JENKINSFILE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 container Docker por etapa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4434840"/>
          </a:xfrm>
          <a:prstGeom prst="roundRect">
            <a:avLst>
              <a:gd name="adj" fmla="val 1237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46504"/>
            <a:ext cx="91440" cy="9144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746504"/>
            <a:ext cx="91440" cy="9144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" y="1746504"/>
            <a:ext cx="91440" cy="914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84248"/>
            <a:ext cx="636422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{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sobe containers via docker run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triggers {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cron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 * * * *'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} 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nightly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stage(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'Build'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'docker run --rm -v "%CD%":/app -w /app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node:22-alpine sh -c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"npm run check"'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stage(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'Test'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catchError(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UNSTABLE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bat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'docker run --name teste-%BUILD_NUMBER%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-v "%CD%":/app -e REPORTS_DIR=/tmp/reports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node:22-alpine sh -c "npm run test:coverage"'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'docker cp teste-..:/tmp/reports reports'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EACCES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junit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'reports/junit.xml'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1691640"/>
            <a:ext cx="411480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0" y="1929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3614" y="2042038"/>
            <a:ext cx="286756" cy="2867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321040" y="1856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any + docker run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321040" y="21488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sobe seu próprio container, isolado do outro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498080" y="2825496"/>
            <a:ext cx="411480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0" y="306324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14" y="3175894"/>
            <a:ext cx="286756" cy="2867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321040" y="29900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-v "%CD%":/app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8321040" y="32826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containers montam o mesmo workspace (sem plugin)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498080" y="3959352"/>
            <a:ext cx="411480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0" y="419709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3614" y="4309750"/>
            <a:ext cx="286756" cy="286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2104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catchError(UNSTABLE)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321040" y="44165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falha vira build instável, não falha total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498080" y="5093208"/>
            <a:ext cx="411480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680960" y="53309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33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3614" y="5443606"/>
            <a:ext cx="286756" cy="2867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321040" y="5257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triggers { cron }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8321040" y="55504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o build agendado (nightly) sem clique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0" name="Text 24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PASSO 1 — PRÉ-REQUISITOS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o Jenkins precisa para falar com o Docker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172614"/>
            <a:ext cx="409651" cy="4096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9842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Desktop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4048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Instalado e em execução, no modo Linux containers (as imagens node:22-alpine são Linux).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20116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94" y="217261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19842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CLI no Jenkins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98080" y="24048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ao Jenkins (docker --version). Não precisa do plugin Docker Pipeline.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474720"/>
            <a:ext cx="5349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79476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4" y="3955694"/>
            <a:ext cx="409651" cy="4096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6732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 Git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8795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buscar o código do repositório via SCM.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474720"/>
            <a:ext cx="5349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37960" y="379476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894" y="3955694"/>
            <a:ext cx="409651" cy="4096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98080" y="376732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Permissão de Docker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98080" y="418795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do serviço Jenkins precisa conseguir usar o Docker.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54406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C2330"/>
          </a:solidFill>
          <a:ln w="12700">
            <a:solidFill>
              <a:srgbClr val="2496E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" y="54406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Validação rápida:  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--rm node:22-alpine node --version</a:t>
            </a:r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deve imprimir a versão do Node.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7" name="Text 21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PASSO 2 — MONTAR O JOB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Criar o Pipeline no Jenkins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61B22"/>
          </a:solidFill>
          <a:ln w="19050">
            <a:solidFill>
              <a:srgbClr val="2496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32104" y="2212848"/>
            <a:ext cx="0" cy="32918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600200"/>
            <a:ext cx="1024128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166420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Item → Pipeline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0" y="166420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Dê um nome (ex.: conversao-temperatura) e escolha o tipo Pipeline.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42032"/>
            <a:ext cx="566928" cy="566928"/>
          </a:xfrm>
          <a:prstGeom prst="ellipse">
            <a:avLst/>
          </a:prstGeom>
          <a:solidFill>
            <a:srgbClr val="161B22"/>
          </a:solidFill>
          <a:ln w="19050">
            <a:solidFill>
              <a:srgbClr val="2496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32104" y="3108960"/>
            <a:ext cx="0" cy="32918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2496312"/>
            <a:ext cx="1024128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→ Definition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0" y="25603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"Pipeline script from SCM" para o Jenkins ler o Jenkinsfile do repositório.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38144"/>
            <a:ext cx="566928" cy="566928"/>
          </a:xfrm>
          <a:prstGeom prst="ellipse">
            <a:avLst/>
          </a:prstGeom>
          <a:solidFill>
            <a:srgbClr val="161B22"/>
          </a:solidFill>
          <a:ln w="19050">
            <a:solidFill>
              <a:srgbClr val="2496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38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32104" y="4005072"/>
            <a:ext cx="0" cy="32918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3392424"/>
            <a:ext cx="1024128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0200" y="34564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SCM → Git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43600" y="345643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a URL do repositório e, se for privado, configure as credenciais.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334256"/>
            <a:ext cx="566928" cy="566928"/>
          </a:xfrm>
          <a:prstGeom prst="ellipse">
            <a:avLst/>
          </a:prstGeom>
          <a:solidFill>
            <a:srgbClr val="161B22"/>
          </a:solidFill>
          <a:ln w="19050">
            <a:solidFill>
              <a:srgbClr val="2496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34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32104" y="4901184"/>
            <a:ext cx="0" cy="32918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71600" y="4288536"/>
            <a:ext cx="1024128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43525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 Path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43600" y="435254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Mantenha Jenkinsfile (raiz do projeto). É o arquivo que define build + teste.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30368"/>
            <a:ext cx="566928" cy="566928"/>
          </a:xfrm>
          <a:prstGeom prst="ellipse">
            <a:avLst/>
          </a:prstGeom>
          <a:solidFill>
            <a:srgbClr val="161B22"/>
          </a:solidFill>
          <a:ln w="19050">
            <a:solidFill>
              <a:srgbClr val="2496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371600" y="5184648"/>
            <a:ext cx="1024128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00200" y="52486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→ Build Now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943600" y="524865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e dispare o primeiro build manualmente para validar.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PASSO 3 — LIGAÇÃO COM O GITHUB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Configurar o SCM do Pipeline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035040" cy="4389120"/>
          </a:xfrm>
          <a:prstGeom prst="roundRect">
            <a:avLst>
              <a:gd name="adj" fmla="val 187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· SCM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URL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496312"/>
            <a:ext cx="5486400" cy="420624"/>
          </a:xfrm>
          <a:prstGeom prst="roundRect">
            <a:avLst>
              <a:gd name="adj" fmla="val 10870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4963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https://github.com/DanielTrindade/jenkins-trabalho.git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410712"/>
            <a:ext cx="5486400" cy="420624"/>
          </a:xfrm>
          <a:prstGeom prst="roundRect">
            <a:avLst>
              <a:gd name="adj" fmla="val 10870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4107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 — repositório público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4069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Specifier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325112"/>
            <a:ext cx="5486400" cy="420624"/>
          </a:xfrm>
          <a:prstGeom prst="roundRect">
            <a:avLst>
              <a:gd name="adj" fmla="val 10870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3251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*/main   (ou a branch do cenário)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9834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Path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5239512"/>
            <a:ext cx="5486400" cy="420624"/>
          </a:xfrm>
          <a:prstGeom prst="roundRect">
            <a:avLst>
              <a:gd name="adj" fmla="val 10870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2395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Jenkinsfile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800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O JENKINS É ACIONADO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0" y="2240280"/>
            <a:ext cx="4754880" cy="1078992"/>
          </a:xfrm>
          <a:prstGeom prst="roundRect">
            <a:avLst>
              <a:gd name="adj" fmla="val 762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40880" y="2496312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330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1581" y="2617013"/>
            <a:ext cx="307238" cy="30723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26680" y="24231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— Build Now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726680" y="275234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gravar os cenários sob demanda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858000" y="3483864"/>
            <a:ext cx="4754880" cy="1078992"/>
          </a:xfrm>
          <a:prstGeom prst="roundRect">
            <a:avLst>
              <a:gd name="adj" fmla="val 762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40880" y="373989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330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1581" y="3860597"/>
            <a:ext cx="307238" cy="30723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726680" y="366674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Agendado — cron no Jenkinsfile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726680" y="3995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nightly dispara sozinho (Cenário 4)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0" y="4727448"/>
            <a:ext cx="4754880" cy="1078992"/>
          </a:xfrm>
          <a:prstGeom prst="roundRect">
            <a:avLst>
              <a:gd name="adj" fmla="val 762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040880" y="4983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330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1581" y="5104181"/>
            <a:ext cx="307238" cy="30723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726680" y="49103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/ Poll SCM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7726680" y="52395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avisa o Jenkins a cada push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5" name="Text 30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4 cenários executados no pipeline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" cy="17830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00600" y="1920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33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5441" y="2065081"/>
            <a:ext cx="368686" cy="36868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2219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"Tudo certo"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68680" y="27157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 teste passam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114800" y="29718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0" y="2971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55080" y="16916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55080" y="1691640"/>
            <a:ext cx="73152" cy="178308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15" name="Text 12"/>
          <p:cNvSpPr/>
          <p:nvPr/>
        </p:nvSpPr>
        <p:spPr>
          <a:xfrm>
            <a:off x="667512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607040" y="1920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33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1881" y="2065081"/>
            <a:ext cx="368686" cy="36868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675120" y="22219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"Deu ruim"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6675120" y="27157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sintaxe no build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921240" y="29718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F8514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921240" y="2971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48640" y="37490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48640" y="3749040"/>
            <a:ext cx="73152" cy="178308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24" name="Text 20"/>
          <p:cNvSpPr/>
          <p:nvPr/>
        </p:nvSpPr>
        <p:spPr>
          <a:xfrm>
            <a:off x="86868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3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800600" y="39776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330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441" y="4122481"/>
            <a:ext cx="368686" cy="36868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68680" y="42793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"Tá instável"</a:t>
            </a:r>
            <a:endParaRPr lang="en-US" sz="2200" dirty="0"/>
          </a:p>
        </p:txBody>
      </p:sp>
      <p:sp>
        <p:nvSpPr>
          <p:cNvPr id="28" name="Text 23"/>
          <p:cNvSpPr/>
          <p:nvPr/>
        </p:nvSpPr>
        <p:spPr>
          <a:xfrm>
            <a:off x="868680" y="47731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ok, um teste falha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4114800" y="50292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D2992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14800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UNSTABLE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355080" y="37490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55080" y="3749040"/>
            <a:ext cx="73152" cy="17830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3" name="Text 28"/>
          <p:cNvSpPr/>
          <p:nvPr/>
        </p:nvSpPr>
        <p:spPr>
          <a:xfrm>
            <a:off x="667512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4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10607040" y="39776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330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1881" y="4122481"/>
            <a:ext cx="368686" cy="36868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675120" y="42793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 nightly"</a:t>
            </a:r>
            <a:endParaRPr lang="en-US" sz="2200" dirty="0"/>
          </a:p>
        </p:txBody>
      </p:sp>
      <p:sp>
        <p:nvSpPr>
          <p:cNvPr id="37" name="Text 31"/>
          <p:cNvSpPr/>
          <p:nvPr/>
        </p:nvSpPr>
        <p:spPr>
          <a:xfrm>
            <a:off x="6675120" y="47731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dispara sozinho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9921240" y="50292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921240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41" name="Text 35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1 — TUDO CERTO!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e testes com sucesso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34340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20574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4522" y="2298802"/>
            <a:ext cx="614477" cy="614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3375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conversion-cenario-build-sucesso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512064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FB95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524865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5120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inserir link do vídeo ]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ACONTECE NO PIPELINE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167128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43600" y="209397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docker run: container de BUILD valida a sintaxe (npm run check)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2880360"/>
            <a:ext cx="310896" cy="31089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43600" y="280720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fontes ficam no workspace, montado nos dois containers (-v)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59359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943600" y="35204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docker run: container de TESTE (outro hostname) roda os testes</a:t>
            </a:r>
            <a:endParaRPr lang="en-US" sz="13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4306824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943600" y="42336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testes passam → JUnit publicado, build verde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2" name="Text 14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2 — DEU RUIM!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Falha durante a compilação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34340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20574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4522" y="2298802"/>
            <a:ext cx="614477" cy="614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3375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conversion-cenario-falha-sintaxe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512064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F85149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524865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5120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inserir link do vídeo ]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ACONTECE NO PIPELINE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167128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43600" y="209397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de BUILD sobe e roda npm run check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2880360"/>
            <a:ext cx="310896" cy="31089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43600" y="280720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sintaxe nos fontes → o check falha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59359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943600" y="35204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de teste é pulado: o 2º container nem sobe</a:t>
            </a:r>
            <a:endParaRPr lang="en-US" sz="13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4306824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943600" y="42336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marca o build como FAILURE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5486400" y="5047488"/>
            <a:ext cx="6126480" cy="1143000"/>
          </a:xfrm>
          <a:prstGeom prst="roundRect">
            <a:avLst>
              <a:gd name="adj" fmla="val 7200"/>
            </a:avLst>
          </a:prstGeom>
          <a:solidFill>
            <a:srgbClr val="1C23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5715000" y="5202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PROVOCAR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5715000" y="547725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 src/app.js, quebrar uma desestruturação: const { pathname = requestUrl;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5" name="Text 17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3 — TÁ INSTÁVEL!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ok, mas um teste falha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34340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20574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4522" y="2298802"/>
            <a:ext cx="614477" cy="614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3375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UNSTABLE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conversion-cenario-testes-falhando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512064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D2992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524865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5120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inserir link do vídeo ]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ACONTECE NO PIPELINE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167128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43600" y="209397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de BUILD passa normalmente (npm run check ok)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2880360"/>
            <a:ext cx="310896" cy="31089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43600" y="280720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de TESTE roda os testes e um caso falha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59359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943600" y="35204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catchError(UNSTABLE) captura a falha sem abortar</a:t>
            </a:r>
            <a:endParaRPr lang="en-US" sz="13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4306824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943600" y="42336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é publicado mesmo assim → build UNSTABLE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5486400" y="5047488"/>
            <a:ext cx="6126480" cy="1143000"/>
          </a:xfrm>
          <a:prstGeom prst="roundRect">
            <a:avLst>
              <a:gd name="adj" fmla="val 7200"/>
            </a:avLst>
          </a:prstGeom>
          <a:solidFill>
            <a:srgbClr val="1C23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5715000" y="5202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PROVOCAR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5715000" y="547725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 conversion-service.js, alterar a fórmula: (value - 32) * (4 / 9).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5" name="Text 17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 4 — O LENDÁRIO NIGHTLY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agendada, sem intervenção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34340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9C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20574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1C23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4522" y="2298802"/>
            <a:ext cx="614477" cy="614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3375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conversion-cenario-build-agendado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512064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D1117"/>
          </a:solidFill>
          <a:ln w="15875">
            <a:solidFill>
              <a:srgbClr val="39C5C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524865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5120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inserir link do vídeo ]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ACONTECE NO PIPELINE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167128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43600" y="209397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gatilho cron('* * * * *') dispara o job sozinho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2880360"/>
            <a:ext cx="310896" cy="31089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43600" y="280720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fluxo: container de build → container de teste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59359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943600" y="35204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 testes executam com sucesso, sem clicar em nada</a:t>
            </a:r>
            <a:endParaRPr lang="en-US" sz="13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4306824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943600" y="42336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produção, o cron voltaria para algo como 'H 8 * * 1-5'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5486400" y="5047488"/>
            <a:ext cx="6126480" cy="1143000"/>
          </a:xfrm>
          <a:prstGeom prst="roundRect">
            <a:avLst>
              <a:gd name="adj" fmla="val 7200"/>
            </a:avLst>
          </a:prstGeom>
          <a:solidFill>
            <a:srgbClr val="1C23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5715000" y="5202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DICA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5715000" y="547725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Salve o job uma vez para o Jenkins registrar o agendamento.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5" name="Text 17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MÉTRICAS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Cobertura de código com os testes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etapa de teste roda dentro do container com a flag de cobertura nativa do Node e emite dois relatórios que o Jenkins publica e arquiva.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303520" cy="1828800"/>
          </a:xfrm>
          <a:prstGeom prst="roundRect">
            <a:avLst>
              <a:gd name="adj" fmla="val 4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0604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C233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746858"/>
            <a:ext cx="358445" cy="3584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606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reports/junit.xml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3375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cada caso de teste (passou/falhou). É o que alimenta o gráfico de tendência de testes do Jenkins.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2377440"/>
            <a:ext cx="5303520" cy="1828800"/>
          </a:xfrm>
          <a:prstGeom prst="roundRect">
            <a:avLst>
              <a:gd name="adj" fmla="val 4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0" y="260604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C233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74685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2606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reports/lcov.info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83680" y="33375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linha a linha do código. Pode ser lido por plugins de cobertura ou ferramentas externas (ex.: SonarQube).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8680" y="46177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test:coverage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ℹ tests 9   ℹ pass 9   ℹ fail 0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duration_ms ...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junit.xml + lcov.info gerados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18" name="Text 14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21440" cy="6217920"/>
          </a:xfrm>
          <a:prstGeom prst="roundRect">
            <a:avLst>
              <a:gd name="adj" fmla="val 1765"/>
            </a:avLst>
          </a:prstGeom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 que mover build e teste para containers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44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33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731" y="22358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176272"/>
            <a:ext cx="225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Isolamento real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816352"/>
            <a:ext cx="289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 teste não compartilham ambiente nem efeitos colaterais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58640" y="1828800"/>
            <a:ext cx="3444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32960" y="21031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33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5731" y="2235891"/>
            <a:ext cx="337962" cy="3379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64480" y="2176272"/>
            <a:ext cx="225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Reprodutibilidade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632960" y="2816352"/>
            <a:ext cx="289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imagem node:22-alpine roda igual em qualquer máquina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68640" y="1828800"/>
            <a:ext cx="3444240" cy="1554480"/>
          </a:xfrm>
          <a:prstGeom prst="roundRect">
            <a:avLst>
              <a:gd name="adj" fmla="val 529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442960" y="21031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33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731" y="2235891"/>
            <a:ext cx="337962" cy="3379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74480" y="2176272"/>
            <a:ext cx="225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Paridade dev/CI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442960" y="2816352"/>
            <a:ext cx="289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comandos do pipeline rodam idênticos no docker run local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3657600"/>
            <a:ext cx="11064240" cy="1874520"/>
          </a:xfrm>
          <a:prstGeom prst="roundRect">
            <a:avLst>
              <a:gd name="adj" fmla="val 4390"/>
            </a:avLst>
          </a:prstGeom>
          <a:solidFill>
            <a:srgbClr val="1C23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6868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68680" y="42062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D1117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4326941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544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Repositório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554480" y="4434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9C5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github.com/DanielTrindade/jenkins-trabalho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68680" y="4983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D1117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81" y="5104181"/>
            <a:ext cx="307238" cy="30723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Vídeos dos cenários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1554480" y="52120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inserir os links dos 4 vídeos — um por cenário ]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48640" y="58064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Daniel Trindade · Gerência de Configuração · UFAM · 2026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548640" y="6419088"/>
            <a:ext cx="128016" cy="128016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32" name="Text 25"/>
          <p:cNvSpPr/>
          <p:nvPr/>
        </p:nvSpPr>
        <p:spPr>
          <a:xfrm>
            <a:off x="749808" y="63276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Jenkins + Docker  ·  Gerência de Configuração — UFAM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064240" y="63276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2026-06-30T01:26:27Z</dcterms:created>
  <dcterms:modified xsi:type="dcterms:W3CDTF">2026-06-30T01:26:27Z</dcterms:modified>
</cp:coreProperties>
</file>