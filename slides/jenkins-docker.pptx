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21440" cy="6217920"/>
          </a:xfrm>
          <a:prstGeom prst="roundRect">
            <a:avLst>
              <a:gd name="adj" fmla="val 1765"/>
            </a:avLst>
          </a:prstGeom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1095451"/>
            <a:ext cx="460858" cy="4608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00200" y="9144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51" y="1095451"/>
            <a:ext cx="460858" cy="4608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CI/CD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" y="2240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65836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e testes em containers Docker isolados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58368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um pipeline Jenkins para executar a compilação dos fontes em um container e a suíte de testes em outro container, totalmente isolados.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58368" y="507492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" y="52120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 Trindade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 2 — Jenkins com Docker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5532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Gerência de Configuração · UFAM · 2026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5" name="Text 11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esta apresentação cobre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13258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28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1953524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92040" y="17190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08760" y="18105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projeto e sua arquitetura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08760" y="22677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conversão de temperatura em Node.js e seus dois métodos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554480"/>
            <a:ext cx="64008" cy="13258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1828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96" y="195352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607040" y="17190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223760" y="18105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teste e cobertura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2677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de testes e as métricas de cobertura de código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1089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108960"/>
            <a:ext cx="64008" cy="13258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0" name="Shape 16"/>
          <p:cNvSpPr/>
          <p:nvPr/>
        </p:nvSpPr>
        <p:spPr>
          <a:xfrm>
            <a:off x="804672" y="3383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3508004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92040" y="32735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1508760" y="33649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mudança: do Trabalho 1 ao 2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508760" y="3822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tudo no agente para dois containers Docker isolados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63640" y="31089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63640" y="3108960"/>
            <a:ext cx="64008" cy="13258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7" name="Shape 22"/>
          <p:cNvSpPr/>
          <p:nvPr/>
        </p:nvSpPr>
        <p:spPr>
          <a:xfrm>
            <a:off x="6519672" y="3383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396" y="3508004"/>
            <a:ext cx="317480" cy="317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607040" y="32735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7223760" y="33649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Montar o job no Jenkins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223760" y="3822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Pipeline e configurar a ligação com o GitHub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48640" y="46634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48640" y="4663440"/>
            <a:ext cx="64008" cy="13258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4" name="Shape 28"/>
          <p:cNvSpPr/>
          <p:nvPr/>
        </p:nvSpPr>
        <p:spPr>
          <a:xfrm>
            <a:off x="804672" y="49377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96" y="5062484"/>
            <a:ext cx="317480" cy="317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92040" y="48280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1508760" y="49194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 dos 4 cenários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1508760" y="5376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Sucesso, falha de build, instável e o nightly agendado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263640" y="46634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263640" y="4663440"/>
            <a:ext cx="64008" cy="13258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1" name="Shape 34"/>
          <p:cNvSpPr/>
          <p:nvPr/>
        </p:nvSpPr>
        <p:spPr>
          <a:xfrm>
            <a:off x="6519672" y="49377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396" y="5062484"/>
            <a:ext cx="317480" cy="3174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607040" y="48280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400" dirty="0"/>
          </a:p>
        </p:txBody>
      </p:sp>
      <p:sp>
        <p:nvSpPr>
          <p:cNvPr id="44" name="Text 36"/>
          <p:cNvSpPr/>
          <p:nvPr/>
        </p:nvSpPr>
        <p:spPr>
          <a:xfrm>
            <a:off x="7223760" y="49194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Métricas e conclusão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7223760" y="5376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benefícios dos containers e links dos vídeos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7" name="Text 39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de Conversão de Temperatura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HTTP minimalista em Node.js, propositalmente simples para manter o foco no pipeline — não na complexidade do código.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5895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4323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22, sem dependências externas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61872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apenas módulos nativos; o Scalar (docs) carrega via CDN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5497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3924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Dois métodos de conversão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61872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fahrenheitToCelsius e celsiusToFahrenheit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89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50982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43525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 HTTP com endpoints REST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61872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de conversão, /openapi.json e /docs interativo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766560" y="1554480"/>
            <a:ext cx="4846320" cy="4480560"/>
          </a:xfrm>
          <a:prstGeom prst="roundRect">
            <a:avLst>
              <a:gd name="adj" fmla="val 18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408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040880" y="214884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040880" y="21488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772400" y="2148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/fahrenheit-to-celsius?value=212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772400" y="2441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 °C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040880" y="2990088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040880" y="2990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772400" y="2990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/celsius-to-fahrenheit?value=100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77240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212 °F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040880" y="3831336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40880" y="38313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7772400" y="38313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/openapi.json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7772400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OpenAPI 3.1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040880" y="4672584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46725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772400" y="46725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7772400" y="4965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interativa (Scalar)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7040880" y="5532120"/>
            <a:ext cx="44805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0408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em JSON: { input:{scale,value}, output:{scale,value} }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8" name="Text 33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 DO CÓDIGO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os fontes estão organizados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4008" cy="91440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379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servidor HTTP na porta 3000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200400" y="260604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83464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834640"/>
            <a:ext cx="64008" cy="914400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9809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Roteia as requisições e monta as respostas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00400" y="374904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397764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977640"/>
            <a:ext cx="64008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41239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conversion-service.js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2960" y="44805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negócio: as duas conversões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0" y="1691640"/>
            <a:ext cx="5120640" cy="4343400"/>
          </a:xfrm>
          <a:prstGeom prst="roundRect">
            <a:avLst>
              <a:gd name="adj" fmla="val 189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665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INFRAESTRUTURA DE QUALIDADE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766560" y="22860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214" y="2398654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06640" y="2249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— scripts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406640" y="2542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test e test:coverage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32004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214" y="3313054"/>
            <a:ext cx="286756" cy="2867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31638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test/app.test.js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0664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com 9 casos de teste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766560" y="41148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214" y="4227454"/>
            <a:ext cx="286756" cy="2867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06640" y="4078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scripts/run-coverage.js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40664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junit.xml + lcov.info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766560" y="50292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214" y="5141854"/>
            <a:ext cx="286756" cy="2867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06640" y="4992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Jenkinsfile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406640" y="5285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declarativo (build + teste)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7" name="Text 29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TESTE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dois métodos e como são validados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2148840"/>
          </a:xfrm>
          <a:prstGeom prst="roundRect">
            <a:avLst>
              <a:gd name="adj" fmla="val 2553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46504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746504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746504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84248"/>
            <a:ext cx="5266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fahrenheitToCelsius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{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round((value -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celsiusToFahrenheit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{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round(value *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CASOS DE TESTE — DOIS NÚCLEO + 7 DE BORDA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12848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°F  →  0 °C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95160" y="2395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fahrenheitToCelsius(32) === 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2852928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5409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°C  →  32 °F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995160" y="3236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celsiusToFahrenheit(0) === 32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0" y="3694176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89534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3785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212 °F → 100 °C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995160" y="40782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/fahrenheit-to-celsius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0" y="4535424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73659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4626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inválido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995160" y="4919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responde HTTP 400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5669280" cy="2057400"/>
          </a:xfrm>
          <a:prstGeom prst="roundRect">
            <a:avLst>
              <a:gd name="adj" fmla="val 4000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4206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32694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4224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Cobertura de código ativada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77240" y="48006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test:coverage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executa os testes com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--experimental-test-coverage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gera os relatórios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reports/junit.xml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(resultado dos testes)  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reports/lcov.info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(cobertura linha a linha).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2" name="Text 25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GRANDE MUDANÇA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Trabalho 1 para o Trabalho 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18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Tudo no agente Jenkins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986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2843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Jenkins roda npm direto na máquina host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6484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5935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teste compartilham o mesmo ambiente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4343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do Node e cache do host influenciam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4807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5093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isolamento entre as etapas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1856"/>
            </a:avLst>
          </a:prstGeom>
          <a:solidFill>
            <a:srgbClr val="161B22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583680" y="18288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2496ED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583680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 2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583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 Docker isolados</a:t>
            </a:r>
            <a:endParaRPr lang="en-US" sz="1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89864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22592" y="2843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roda em um container node:22-alpine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64845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22592" y="35935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rodam em outro container, separado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39826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22592" y="4343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reprodutível e descartável</a:t>
            </a:r>
            <a:endParaRPr lang="en-US" sz="13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14807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022592" y="5093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é um docker run isolado (--rm)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9" name="Text 19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 DO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o Jenkins orquestra os dois containers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188720"/>
          </a:xfrm>
          <a:prstGeom prst="roundRect">
            <a:avLst>
              <a:gd name="adj" fmla="val 69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786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68925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560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98448" y="2926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/ webhook / cron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28254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63240" y="2377440"/>
            <a:ext cx="2011680" cy="1188720"/>
          </a:xfrm>
          <a:prstGeom prst="roundRect">
            <a:avLst>
              <a:gd name="adj" fmla="val 69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46120" y="25786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762" y="2689250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13048" y="2560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813048" y="2926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Jenkinsfile e orquestra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8254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577840" y="1783080"/>
            <a:ext cx="6035040" cy="27432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5240">
            <a:solidFill>
              <a:srgbClr val="2496ED"/>
            </a:solidFill>
            <a:prstDash val="dash"/>
          </a:ln>
        </p:spPr>
      </p:sp>
      <p:sp>
        <p:nvSpPr>
          <p:cNvPr id="17" name="Text 11"/>
          <p:cNvSpPr/>
          <p:nvPr/>
        </p:nvSpPr>
        <p:spPr>
          <a:xfrm>
            <a:off x="5760720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ENGINE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1024128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806440" y="237744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89320" y="25786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962" y="2689250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56248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BUILD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556248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+ npm run check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2825496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778240" y="237744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961120" y="25786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1762" y="2689250"/>
            <a:ext cx="281635" cy="28163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528048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TESTE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9528048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test:coverage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5806440" y="3794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docker run separados; os dois montam o mesmo workspace (-v) e são descartados (--rm).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77240" y="5029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964" y="5153924"/>
            <a:ext cx="317480" cy="317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508760" y="5029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 container de teste gera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reports/junit.xml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reports/lcov.info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o Jenkins publica e decide: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UNSTABLE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6" name="Text 26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JENKINSFILE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container Docker por etapa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434840"/>
          </a:xfrm>
          <a:prstGeom prst="roundRect">
            <a:avLst>
              <a:gd name="adj" fmla="val 1237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46504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746504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746504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84248"/>
            <a:ext cx="636422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sobe containers via docker run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triggers {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 * * * *'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} 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nightly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stage(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'docker run --rm -v "%CD%":/app -w /app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node:22-alpine sh -c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"npm ci &amp;&amp; npm run check"'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stage(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catchError(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UNSTABLE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bat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'docker run --rm -v "%CD%":/app -w /app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node:22-alpine sh -c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"npm run test:coverage"'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junit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'reports/junit.xml'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691640"/>
            <a:ext cx="411480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192938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3614" y="2042038"/>
            <a:ext cx="286756" cy="2867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0" y="1856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any + docker run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21040" y="2148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sobe seu próprio container, isolado do outro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2825496"/>
            <a:ext cx="411480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30632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14" y="3175894"/>
            <a:ext cx="286756" cy="2867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21040" y="2990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"%CD%":/app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321040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containers montam o mesmo workspace (sem plugin)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498080" y="3959352"/>
            <a:ext cx="411480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80960" y="419709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614" y="430975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41239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catchError(UNSTABLE)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21040" y="44165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falha vira build instável, não falha total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498080" y="5093208"/>
            <a:ext cx="411480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680960" y="533095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233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614" y="5443606"/>
            <a:ext cx="286756" cy="2867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21040" y="5257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{ cron }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321040" y="55504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 build agendado (nightly) sem clique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0" name="Text 24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1 — PRÉ-REQUISITOS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o Jenkins precisa para falar com o Docker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1726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84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Desktop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4048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e em execução, no modo Linux containers (as imagens node:22-alpine são Linux).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C23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217261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84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CLI no Jenkins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4048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ao Jenkins (docker --version). Não precisa do plugin Docker Pipeline.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7947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C23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395569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67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Git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1879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buscar o código do repositório via SCM.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47472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37947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C23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395569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767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Permissão de Docker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1879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do serviço Jenkins precisa conseguir usar o Docker.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C2330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440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Validação rápida: 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node:22-alpine node --version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deve imprimir a versão do Node.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7" name="Text 21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2 — MONTAR O JOB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Criar o Pipeline no Jenkins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2104" y="2212848"/>
            <a:ext cx="0" cy="32918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600200"/>
            <a:ext cx="10241280" cy="749808"/>
          </a:xfrm>
          <a:prstGeom prst="roundRect">
            <a:avLst>
              <a:gd name="adj" fmla="val 1097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6642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Item →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6642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(ex.: conversao-temperatura) e escolha o tipo Pipeline.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2104" y="3108960"/>
            <a:ext cx="0" cy="32918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496312"/>
            <a:ext cx="10241280" cy="749808"/>
          </a:xfrm>
          <a:prstGeom prst="roundRect">
            <a:avLst>
              <a:gd name="adj" fmla="val 1097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→ Definition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560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"Pipeline script from SCM" para o Jenkins ler o Jenkinsfile do repositório.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2104" y="4005072"/>
            <a:ext cx="0" cy="32918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392424"/>
            <a:ext cx="10241280" cy="749808"/>
          </a:xfrm>
          <a:prstGeom prst="roundRect">
            <a:avLst>
              <a:gd name="adj" fmla="val 1097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4564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SCM → Git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34564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URL do repositório e, se for privado, configure as credenciais.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34256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34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32104" y="4901184"/>
            <a:ext cx="0" cy="32918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288536"/>
            <a:ext cx="10241280" cy="749808"/>
          </a:xfrm>
          <a:prstGeom prst="roundRect">
            <a:avLst>
              <a:gd name="adj" fmla="val 1097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43525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Path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35254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Jenkinsfile (raiz do projeto). É o arquivo que define build + teste.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30368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371600" y="5184648"/>
            <a:ext cx="10241280" cy="749808"/>
          </a:xfrm>
          <a:prstGeom prst="roundRect">
            <a:avLst>
              <a:gd name="adj" fmla="val 1097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52486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→ Build Now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943600" y="524865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e dispare o primeiro build manualmente para validar.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3 — LIGAÇÃO COM O GITHUB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Configurar o SCM do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4389120"/>
          </a:xfrm>
          <a:prstGeom prst="roundRect">
            <a:avLst>
              <a:gd name="adj" fmla="val 187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· SCM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URL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5486400" cy="420624"/>
          </a:xfrm>
          <a:prstGeom prst="roundRect">
            <a:avLst>
              <a:gd name="adj" fmla="val 10870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963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https://github.com/DanielTrindade/jenkins-trabalho.git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410712"/>
            <a:ext cx="5486400" cy="420624"/>
          </a:xfrm>
          <a:prstGeom prst="roundRect">
            <a:avLst>
              <a:gd name="adj" fmla="val 10870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107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 — repositório público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Specifier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325112"/>
            <a:ext cx="5486400" cy="420624"/>
          </a:xfrm>
          <a:prstGeom prst="roundRect">
            <a:avLst>
              <a:gd name="adj" fmla="val 10870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3251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*/main   (ou a branch do cenário)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239512"/>
            <a:ext cx="5486400" cy="420624"/>
          </a:xfrm>
          <a:prstGeom prst="roundRect">
            <a:avLst>
              <a:gd name="adj" fmla="val 10870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2395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Jenkinsfile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O JENKINS É ACIONADO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240280"/>
            <a:ext cx="4754880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4963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1581" y="2617013"/>
            <a:ext cx="307238" cy="30723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26680" y="2423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— Build Now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26680" y="27523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gravar os cenários sob demanda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0" y="3483864"/>
            <a:ext cx="4754880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40880" y="373989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581" y="3860597"/>
            <a:ext cx="307238" cy="30723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726680" y="3666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Agendado — cron no Jenkinsfile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726680" y="3995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nightly dispara sozinho (Cenário 4)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858000" y="4727448"/>
            <a:ext cx="4754880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040880" y="4983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2330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81" y="5104181"/>
            <a:ext cx="307238" cy="30723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726680" y="4910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 / Poll SCM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726680" y="5239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avisa o Jenkins a cada push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5" name="Text 30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4 cenários executados no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783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9202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C233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441" y="2065081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2219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"Tudo certo"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2715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teste passam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0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5080" y="1691640"/>
            <a:ext cx="73152" cy="178308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607040" y="19202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C233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881" y="2065081"/>
            <a:ext cx="368686" cy="3686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75120" y="22219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"Deu ruim"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675120" y="2715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sintaxe no build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921240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F8514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921240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37490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8640" y="3749040"/>
            <a:ext cx="73152" cy="17830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4" name="Text 20"/>
          <p:cNvSpPr/>
          <p:nvPr/>
        </p:nvSpPr>
        <p:spPr>
          <a:xfrm>
            <a:off x="8686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3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00600" y="39776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C233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441" y="4122481"/>
            <a:ext cx="368686" cy="36868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8680" y="42793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"Tá instável"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868680" y="4773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ok, um teste falha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4114800" y="5029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D2992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114800" y="5029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UNSTABLE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355080" y="37490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55080" y="3749040"/>
            <a:ext cx="73152" cy="1783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3" name="Text 28"/>
          <p:cNvSpPr/>
          <p:nvPr/>
        </p:nvSpPr>
        <p:spPr>
          <a:xfrm>
            <a:off x="66751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4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10607040" y="39776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C2330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881" y="4122481"/>
            <a:ext cx="368686" cy="36868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675120" y="42793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 nightly"</a:t>
            </a:r>
            <a:endParaRPr lang="en-US" sz="2200" dirty="0"/>
          </a:p>
        </p:txBody>
      </p:sp>
      <p:sp>
        <p:nvSpPr>
          <p:cNvPr id="37" name="Text 31"/>
          <p:cNvSpPr/>
          <p:nvPr/>
        </p:nvSpPr>
        <p:spPr>
          <a:xfrm>
            <a:off x="6675120" y="4773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dispara sozinho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9921240" y="5029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921240" y="5029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1" name="Text 35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1 — TUDO CERTO!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e testes com sucesso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0574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522" y="229880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conversion-cenario-build-sucesso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512064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52486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inserir link do vídeo ]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ACONTECE NO PIPELINE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6712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093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docker run: container de BUILD roda npm ci + npm run check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8036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28072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fontes ficam no workspace, montado nos dois containers (-v)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59359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0" y="3520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docker run: container de TESTE (outro hostname) roda os testes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306824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43600" y="42336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 passam → JUnit publicado, build verde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2" name="Text 14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2 — DEU RUIM!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Falha durante a compilação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0574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522" y="229880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conversion-cenario-falha-sintaxe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512064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F8514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52486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inserir link do vídeo ]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ACONTECE NO PIPELINE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6712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093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 BUILD sobe e roda npm run check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8036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28072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sintaxe nos fontes → o check falha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59359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0" y="3520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 teste é pulado: o 2º container nem sobe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306824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43600" y="42336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marca o build como FAILURE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486400" y="5047488"/>
            <a:ext cx="6126480" cy="1143000"/>
          </a:xfrm>
          <a:prstGeom prst="roundRect">
            <a:avLst>
              <a:gd name="adj" fmla="val 7200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715000" y="5202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PROVOCAR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715000" y="54772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src/app.js, quebrar uma desestruturação: const { pathname = requestUrl;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5" name="Text 17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3 — TÁ INSTÁVEL!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ok, mas um teste falha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0574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522" y="229880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UNSTABLE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conversion-cenario-testes-falhando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512064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D2992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52486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inserir link do vídeo ]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ACONTECE NO PIPELINE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6712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093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 BUILD passa normalmente (npm run check ok)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8036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28072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 TESTE roda os testes e um caso falha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59359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0" y="3520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catchError(UNSTABLE) captura a falha sem abortar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306824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43600" y="42336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é publicado mesmo assim → build UNSTABLE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486400" y="5047488"/>
            <a:ext cx="6126480" cy="1143000"/>
          </a:xfrm>
          <a:prstGeom prst="roundRect">
            <a:avLst>
              <a:gd name="adj" fmla="val 7200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715000" y="5202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PROVOCAR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715000" y="54772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conversion-service.js, alterar a fórmula: (value - 32) * (4 / 9).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5" name="Text 17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 4 — O LENDÁRIO NIGHTLY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agendada, sem intervenção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0574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1C23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522" y="229880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conversion-cenario-build-agendado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512064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5875">
            <a:solidFill>
              <a:srgbClr val="39C5C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52486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inserir link do vídeo ]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ACONTECE NO PIPELINE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6712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093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gatilho cron('* * * * *') dispara o job sozinho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8036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28072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fluxo: container de build → container de teste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59359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0" y="3520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testes executam com sucesso, sem clicar em nada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306824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43600" y="42336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o cron voltaria para algo como 'H 8 * * 1-5'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486400" y="5047488"/>
            <a:ext cx="6126480" cy="1143000"/>
          </a:xfrm>
          <a:prstGeom prst="roundRect">
            <a:avLst>
              <a:gd name="adj" fmla="val 7200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715000" y="5202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DICA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715000" y="54772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Salve o job uma vez para o Jenkins registrar o agendamento.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5" name="Text 17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Cobertura de código com os testes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de teste roda dentro do container com a flag de cobertura nativa do Node e emite dois relatórios que o Jenkins publica e arquiva.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C23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74685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reports/junit.xml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cada caso de teste (passou/falhou). É o que alimenta o gráfico de tendência de testes do Jenkins.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23774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06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C23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74685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reports/lcov.info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linha a linha do código. Pode ser lido por plugins de cobertura ou ferramentas externas (ex.: SonarQube).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8680" y="46177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test:coverage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ℹ tests 9   ℹ pass 9   ℹ fail 0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duration_ms ...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junit.xml + lcov.info gerados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21440" cy="6217920"/>
          </a:xfrm>
          <a:prstGeom prst="roundRect">
            <a:avLst>
              <a:gd name="adj" fmla="val 1765"/>
            </a:avLst>
          </a:prstGeom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mover build e teste para containers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C23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731" y="2235891"/>
            <a:ext cx="337962" cy="337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76272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Isolamento real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16352"/>
            <a:ext cx="289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teste não compartilham ambiente nem efeitos colaterais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2960" y="210312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C23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731" y="2235891"/>
            <a:ext cx="337962" cy="337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4480" y="2176272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Reprodutibilidade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32960" y="2816352"/>
            <a:ext cx="289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imagem node:22-alpine roda igual em qualquer máquina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6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2960" y="210312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C23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31" y="2235891"/>
            <a:ext cx="337962" cy="3379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74480" y="2176272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Paridade dev/CI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42960" y="2816352"/>
            <a:ext cx="289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comandos do pipeline rodam idênticos no docker run local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65760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686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68680" y="4206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32694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Repositório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554480" y="44348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github.com/DanielTrindade/jenkins-trabalho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68680" y="4983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10418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Vídeos dos cenários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554480" y="5212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inserir os links dos 4 vídeos — um por cenário ]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58064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 Trindade · Gerência de Configuração · UFAM · 2026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8640" y="6419088"/>
            <a:ext cx="128016" cy="12801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2" name="Text 25"/>
          <p:cNvSpPr/>
          <p:nvPr/>
        </p:nvSpPr>
        <p:spPr>
          <a:xfrm>
            <a:off x="74980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+ Docker  ·  Gerência de Configuração — UFAM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064240" y="6327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2026-06-29T23:55:06Z</dcterms:created>
  <dcterms:modified xsi:type="dcterms:W3CDTF">2026-06-29T23:55:06Z</dcterms:modified>
</cp:coreProperties>
</file>